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8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59305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8611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47316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93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Size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837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3,900 rows × 18 columns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59305"/>
            <a:ext cx="6408063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8611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47316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93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Purchase Data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8379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Categories, amounts, seasons, sizes, colors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500324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472713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491418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6343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Info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12481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Age, gender, location, subscription status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500324"/>
            <a:ext cx="6408063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472713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4914186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6343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Behavior Metrics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12481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Discounts, promo codes, purchase frequency, ratings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93790" y="69696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Goal: Uncover spending patterns, customer segments, and product preferences to guide strategic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7601"/>
            <a:ext cx="67765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614499"/>
            <a:ext cx="350150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loading with pandas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Initial exploration using info() and describe()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Missing data handling (37 values in Review Rating)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Column standardization to snake_case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614499"/>
            <a:ext cx="350150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Created age_group bins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Calculated purchase_frequency_days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Dropped redundant promo_code_used column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Loaded to PostgreSQL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29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SQL Findings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$157,890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Male 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Generated 2.1× more than female customers ($75,191)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839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472946" y="4660463"/>
            <a:ext cx="3684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High-Spend Discount Users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Customers using discounts but spending above average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Hat Discount Rate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 percentage of discounted purchases among all products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9761"/>
            <a:ext cx="57791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Product Performance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62168"/>
            <a:ext cx="1767840" cy="1767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113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Jewelry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03915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Top-selling accessory with 171 orders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062168"/>
            <a:ext cx="1767840" cy="1767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5113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Blouse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60391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Leading clothing item with 171 orders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062168"/>
            <a:ext cx="1767840" cy="1767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5113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60391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popular footwear with 160 orders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062168"/>
            <a:ext cx="1767840" cy="17678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5113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Jacket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60391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Leading outerwear with 163 orders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4179"/>
            <a:ext cx="66018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69093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80%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273260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44949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3,116 customers with consistent purchase history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69093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18%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273260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87403" y="5959078"/>
            <a:ext cx="28555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Returning Customers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44949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701 customers making occasional purchases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69093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273260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44949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83 customers with single transactions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35674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Subscription Insights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3129082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Current Status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3666292"/>
            <a:ext cx="835199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27% subscribed (1,053 customers) vs. 73% non-subscribed (2,847 customers)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4202073"/>
            <a:ext cx="2695337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Revenue Comparison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56" y="4739283"/>
            <a:ext cx="835199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Non-subscribers generate 2.7× more total revenue ($170,436 vs. $62,645)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56" y="5275064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Repeat Buyers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56" y="5812274"/>
            <a:ext cx="835199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958 repeat buyers (≥5 purchases) show subscription correlation</a:t>
            </a:r>
            <a:endParaRPr lang="en-US" sz="16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42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Age Group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39985"/>
            <a:ext cx="5657493" cy="283488"/>
          </a:xfrm>
          <a:prstGeom prst="roundRect">
            <a:avLst>
              <a:gd name="adj" fmla="val 72012"/>
            </a:avLst>
          </a:prstGeom>
          <a:solidFill>
            <a:srgbClr val="CEE6FD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739985"/>
            <a:ext cx="1470898" cy="283488"/>
          </a:xfrm>
          <a:prstGeom prst="roundRect">
            <a:avLst>
              <a:gd name="adj" fmla="val 72012"/>
            </a:avLst>
          </a:prstGeom>
          <a:solidFill>
            <a:srgbClr val="84C1FA"/>
          </a:solidFill>
          <a:ln/>
        </p:spPr>
      </p:sp>
      <p:sp>
        <p:nvSpPr>
          <p:cNvPr id="5" name="Text 3"/>
          <p:cNvSpPr/>
          <p:nvPr/>
        </p:nvSpPr>
        <p:spPr>
          <a:xfrm>
            <a:off x="6621304" y="2739985"/>
            <a:ext cx="5520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26%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Young Adult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79726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~1,000 sales generating ~$45K revenue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2739985"/>
            <a:ext cx="5667851" cy="283488"/>
          </a:xfrm>
          <a:prstGeom prst="roundRect">
            <a:avLst>
              <a:gd name="adj" fmla="val 72012"/>
            </a:avLst>
          </a:prstGeom>
          <a:solidFill>
            <a:srgbClr val="CEE6FD"/>
          </a:solidFill>
          <a:ln/>
        </p:spPr>
      </p:sp>
      <p:sp>
        <p:nvSpPr>
          <p:cNvPr id="9" name="Shape 7"/>
          <p:cNvSpPr/>
          <p:nvPr/>
        </p:nvSpPr>
        <p:spPr>
          <a:xfrm>
            <a:off x="7456884" y="2739985"/>
            <a:ext cx="1303496" cy="283488"/>
          </a:xfrm>
          <a:prstGeom prst="roundRect">
            <a:avLst>
              <a:gd name="adj" fmla="val 72012"/>
            </a:avLst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13294757" y="2739985"/>
            <a:ext cx="54185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Middle-aged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6884" y="379726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~900 sales generating ~$40K revenue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727138"/>
            <a:ext cx="5718691" cy="283488"/>
          </a:xfrm>
          <a:prstGeom prst="roundRect">
            <a:avLst>
              <a:gd name="adj" fmla="val 72012"/>
            </a:avLst>
          </a:prstGeom>
          <a:solidFill>
            <a:srgbClr val="CEE6F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3790" y="4727138"/>
            <a:ext cx="1200864" cy="283488"/>
          </a:xfrm>
          <a:prstGeom prst="roundRect">
            <a:avLst>
              <a:gd name="adj" fmla="val 72012"/>
            </a:avLst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6682502" y="4727138"/>
            <a:ext cx="49089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293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Adult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3790" y="578441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~800 sales generating ~$35K revenue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56884" y="4727138"/>
            <a:ext cx="5711785" cy="283488"/>
          </a:xfrm>
          <a:prstGeom prst="roundRect">
            <a:avLst>
              <a:gd name="adj" fmla="val 72012"/>
            </a:avLst>
          </a:prstGeom>
          <a:solidFill>
            <a:srgbClr val="CEE6FD"/>
          </a:solidFill>
          <a:ln/>
        </p:spPr>
      </p:sp>
      <p:sp>
        <p:nvSpPr>
          <p:cNvPr id="19" name="Shape 17"/>
          <p:cNvSpPr/>
          <p:nvPr/>
        </p:nvSpPr>
        <p:spPr>
          <a:xfrm>
            <a:off x="7456884" y="4727138"/>
            <a:ext cx="1028105" cy="283488"/>
          </a:xfrm>
          <a:prstGeom prst="roundRect">
            <a:avLst>
              <a:gd name="adj" fmla="val 72012"/>
            </a:avLst>
          </a:prstGeom>
          <a:solidFill>
            <a:srgbClr val="84C1FA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8691" y="4727138"/>
            <a:ext cx="49791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56884" y="5293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Senior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6884" y="578441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~700 sales generating ~$30K revenue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4024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Young adults drive highest revenue per transaction at ~$45 average.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11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Shipping &amp; Ratings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60533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360533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617827"/>
            <a:ext cx="38529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Express Shipping Preference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3108246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purchase: $60.48 vs. Standard's $58.46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3955256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3955256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Top-Rated Products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8924" y="4702969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Gloves (3.86), Sandals (3.84), Boots (3.82), Hat (3.80), Skirt (3.78)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49979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5549979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8072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Average Rating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6297692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3.75/5.0 across all products with 0.72 standard deviation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165" y="1072991"/>
            <a:ext cx="7177445" cy="666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Strategic Recommendations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65" y="2039779"/>
            <a:ext cx="1065967" cy="12792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12513" y="2252901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Boost Subscriptions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2012513" y="2706053"/>
            <a:ext cx="6385322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exclusive benefits to increase 27% adoption rate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65" y="3318986"/>
            <a:ext cx="1065967" cy="12792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12513" y="3532108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Loyalty Programs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2012513" y="3985260"/>
            <a:ext cx="6385322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Reward repeat buyers to grow loyal segment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65" y="4598194"/>
            <a:ext cx="1065967" cy="12792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12513" y="4811316"/>
            <a:ext cx="288262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Discount Policy Review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2012513" y="5264467"/>
            <a:ext cx="6385322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Balance sales boosts with margin control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65" y="5877401"/>
            <a:ext cx="1065967" cy="12792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12513" y="6090523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Targeted Marketing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2012513" y="6543675"/>
            <a:ext cx="6385322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high-revenue age groups and express-shipping users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2026-03-08T15:00:25Z</dcterms:created>
  <dcterms:modified xsi:type="dcterms:W3CDTF">2026-03-08T15:00:25Z</dcterms:modified>
</cp:coreProperties>
</file>